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1D573-8D6E-45BC-8783-3D618A0252D0}" type="datetimeFigureOut">
              <a:rPr lang="hr-HR" smtClean="0"/>
              <a:t>27.3.2026.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06CE0-CA05-465F-B7B6-E5355C21139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40769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Razlika između benignog(HP) i malignog(SSA) tkiva temelji se na strukturi stanica, gdje benigno tkivo ima urednu i pravilnu organizaciju, dok maligno pokazuje nepravilnosti, promjene oblika i poremećenu strukturu.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06CE0-CA05-465F-B7B6-E5355C211397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94400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2250-5FB7-4404-B645-B7541C9DACDC}" type="datetimeFigureOut">
              <a:rPr lang="hr-HR" smtClean="0"/>
              <a:t>26.3.2026.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41F0-BECD-45BE-9AA7-883FA04238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41856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2250-5FB7-4404-B645-B7541C9DACDC}" type="datetimeFigureOut">
              <a:rPr lang="hr-HR" smtClean="0"/>
              <a:t>26.3.2026.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41F0-BECD-45BE-9AA7-883FA04238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28854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2250-5FB7-4404-B645-B7541C9DACDC}" type="datetimeFigureOut">
              <a:rPr lang="hr-HR" smtClean="0"/>
              <a:t>26.3.2026.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41F0-BECD-45BE-9AA7-883FA04238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3595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2250-5FB7-4404-B645-B7541C9DACDC}" type="datetimeFigureOut">
              <a:rPr lang="hr-HR" smtClean="0"/>
              <a:t>26.3.2026.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41F0-BECD-45BE-9AA7-883FA04238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4596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2250-5FB7-4404-B645-B7541C9DACDC}" type="datetimeFigureOut">
              <a:rPr lang="hr-HR" smtClean="0"/>
              <a:t>26.3.2026.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41F0-BECD-45BE-9AA7-883FA04238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43516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2250-5FB7-4404-B645-B7541C9DACDC}" type="datetimeFigureOut">
              <a:rPr lang="hr-HR" smtClean="0"/>
              <a:t>26.3.2026.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41F0-BECD-45BE-9AA7-883FA04238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6952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2250-5FB7-4404-B645-B7541C9DACDC}" type="datetimeFigureOut">
              <a:rPr lang="hr-HR" smtClean="0"/>
              <a:t>26.3.2026.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41F0-BECD-45BE-9AA7-883FA04238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1383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2250-5FB7-4404-B645-B7541C9DACDC}" type="datetimeFigureOut">
              <a:rPr lang="hr-HR" smtClean="0"/>
              <a:t>26.3.2026.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41F0-BECD-45BE-9AA7-883FA04238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25403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2250-5FB7-4404-B645-B7541C9DACDC}" type="datetimeFigureOut">
              <a:rPr lang="hr-HR" smtClean="0"/>
              <a:t>26.3.2026.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41F0-BECD-45BE-9AA7-883FA04238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846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2250-5FB7-4404-B645-B7541C9DACDC}" type="datetimeFigureOut">
              <a:rPr lang="hr-HR" smtClean="0"/>
              <a:t>26.3.2026.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41F0-BECD-45BE-9AA7-883FA04238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63505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2250-5FB7-4404-B645-B7541C9DACDC}" type="datetimeFigureOut">
              <a:rPr lang="hr-HR" smtClean="0"/>
              <a:t>26.3.2026.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41F0-BECD-45BE-9AA7-883FA04238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52529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C3E2250-5FB7-4404-B645-B7541C9DACDC}" type="datetimeFigureOut">
              <a:rPr lang="hr-HR" smtClean="0"/>
              <a:t>26.3.2026.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8AD41F0-BECD-45BE-9AA7-883FA042383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623165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6B1D92F-37E1-4472-BDA9-2F77C1DA4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r-HR" dirty="0"/>
              <a:t>KLASIFIKACIJA TIPOVA TKIVA KORIŠTENJEM RESNET I EFFICIENTNET ARHITEKTURA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F59BB91-B9D4-7246-50D4-E94F661EB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84918"/>
            <a:ext cx="9144000" cy="1655762"/>
          </a:xfrm>
        </p:spPr>
        <p:txBody>
          <a:bodyPr/>
          <a:lstStyle/>
          <a:p>
            <a:r>
              <a:rPr lang="hr-HR" dirty="0"/>
              <a:t>Obrada slike i računalni vid</a:t>
            </a:r>
          </a:p>
          <a:p>
            <a:endParaRPr lang="hr-HR" dirty="0"/>
          </a:p>
          <a:p>
            <a:r>
              <a:rPr lang="hr-HR" dirty="0"/>
              <a:t>Marinela Bekić</a:t>
            </a:r>
          </a:p>
        </p:txBody>
      </p:sp>
    </p:spTree>
    <p:extLst>
      <p:ext uri="{BB962C8B-B14F-4D97-AF65-F5344CB8AC3E}">
        <p14:creationId xmlns:p14="http://schemas.microsoft.com/office/powerpoint/2010/main" val="295710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8E96D1B-BB36-40DE-FAF4-2AC96271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Problem</a:t>
            </a:r>
          </a:p>
        </p:txBody>
      </p:sp>
      <p:pic>
        <p:nvPicPr>
          <p:cNvPr id="5" name="Rezervirano mjesto sadržaja 4">
            <a:extLst>
              <a:ext uri="{FF2B5EF4-FFF2-40B4-BE49-F238E27FC236}">
                <a16:creationId xmlns:a16="http://schemas.microsoft.com/office/drawing/2014/main" id="{513E2995-A609-C9F0-9337-AA88621D0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90522" y="4071148"/>
            <a:ext cx="5410955" cy="2553056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1525A869-8D60-CDF8-CFCE-433F43477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080" y="1690688"/>
            <a:ext cx="2133600" cy="2133600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4D8EF125-7BEB-3508-AC79-90C027FFD4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2133600" cy="2133600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EA2FFDD7-9488-E70D-6EFA-1FE7F2DC27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1690688"/>
            <a:ext cx="2133600" cy="2133600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F139D5F3-87AA-532A-1E2E-67C72DB307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640" y="1690688"/>
            <a:ext cx="2133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5046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313AB76-8C4F-B613-7455-86686FC9A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Rješenje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72C9F05-20BD-2075-7104-74A3B0DF9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err="1"/>
              <a:t>Konvolucijske</a:t>
            </a:r>
            <a:r>
              <a:rPr lang="hr-HR" dirty="0"/>
              <a:t> neuronske mreže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D888B154-3216-C48A-4F99-3A5687F76C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920" y="3022600"/>
            <a:ext cx="3779520" cy="251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154EECD0-A332-9CBC-73B7-3B62FE60B33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" t="17646" r="9" b="3551"/>
          <a:stretch>
            <a:fillRect/>
          </a:stretch>
        </p:blipFill>
        <p:spPr bwMode="auto">
          <a:xfrm>
            <a:off x="6130925" y="3022600"/>
            <a:ext cx="4796155" cy="25196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36876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960295F-F771-4302-3E3C-6C1541BEA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ResNet</a:t>
            </a:r>
            <a:r>
              <a:rPr lang="hr-HR" dirty="0"/>
              <a:t> arhitektura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1FA4434-3044-AE48-4F21-15BF9714A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Rezidualno učenje </a:t>
            </a:r>
          </a:p>
          <a:p>
            <a:pPr lvl="1"/>
            <a:r>
              <a:rPr lang="hr-HR" dirty="0"/>
              <a:t>Umjesto da mreža pokušava naučiti izravnu funkciju preslikavanja između ulaza i izlaza, model uči rezidualnu funkciju, odnosno razliku između ulazne vrijednosti i željenog izlaza. 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0236688C-ECBD-F8B8-2F80-471AFB2CF3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240" y="3656966"/>
            <a:ext cx="3779520" cy="2519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80733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969E5B3-EB08-5E41-47FB-D9A1EA265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EfficientNet</a:t>
            </a:r>
            <a:r>
              <a:rPr lang="hr-HR" dirty="0"/>
              <a:t> arhitektura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4EAE839-BF8E-46D9-5BC4-E3BF22C42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err="1"/>
              <a:t>Kompaund</a:t>
            </a:r>
            <a:r>
              <a:rPr lang="hr-HR" dirty="0"/>
              <a:t> skaliranje</a:t>
            </a:r>
          </a:p>
          <a:p>
            <a:pPr lvl="1"/>
            <a:r>
              <a:rPr lang="hr-HR" dirty="0"/>
              <a:t>Omogućuje istovremeno i uravnoteženo povećavanje dubine mreže, širine mreže i rezolucije ulaznih slika, a rezultat je postizanje boljih odnosa između točnosti modela i njegove računalne složenosti 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B6330165-01B9-7440-06D5-753A7303C30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73"/>
          <a:stretch>
            <a:fillRect/>
          </a:stretch>
        </p:blipFill>
        <p:spPr bwMode="auto">
          <a:xfrm>
            <a:off x="3825240" y="3657283"/>
            <a:ext cx="4541520" cy="25196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463620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602B1D4-5D43-482E-B125-3614067B3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Skup podataka i metode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E672248-D73E-89A8-E447-2E4FFD8D5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0320" y="2377645"/>
            <a:ext cx="3713480" cy="3409951"/>
          </a:xfrm>
        </p:spPr>
        <p:txBody>
          <a:bodyPr>
            <a:normAutofit/>
          </a:bodyPr>
          <a:lstStyle/>
          <a:p>
            <a:r>
              <a:rPr lang="hr-HR" dirty="0"/>
              <a:t>3152 slike</a:t>
            </a:r>
          </a:p>
          <a:p>
            <a:pPr lvl="1"/>
            <a:r>
              <a:rPr lang="hr-HR" dirty="0"/>
              <a:t>HP: 2162</a:t>
            </a:r>
          </a:p>
          <a:p>
            <a:pPr lvl="1"/>
            <a:r>
              <a:rPr lang="hr-HR" dirty="0"/>
              <a:t>SSA: 990</a:t>
            </a:r>
          </a:p>
          <a:p>
            <a:pPr marL="457200" lvl="1" indent="0">
              <a:buNone/>
            </a:pPr>
            <a:endParaRPr lang="hr-HR" dirty="0"/>
          </a:p>
          <a:p>
            <a:pPr lvl="1"/>
            <a:r>
              <a:rPr lang="hr-HR" dirty="0" err="1"/>
              <a:t>Train</a:t>
            </a:r>
            <a:r>
              <a:rPr lang="hr-HR" dirty="0"/>
              <a:t>: 1740 </a:t>
            </a:r>
          </a:p>
          <a:p>
            <a:pPr lvl="1"/>
            <a:r>
              <a:rPr lang="hr-HR" dirty="0"/>
              <a:t>Val: 435 </a:t>
            </a:r>
          </a:p>
          <a:p>
            <a:pPr lvl="1"/>
            <a:r>
              <a:rPr lang="hr-HR" dirty="0"/>
              <a:t>Test: 977</a:t>
            </a:r>
          </a:p>
          <a:p>
            <a:r>
              <a:rPr lang="hr-HR" i="1" dirty="0" err="1"/>
              <a:t>Tranfer</a:t>
            </a:r>
            <a:r>
              <a:rPr lang="hr-HR" i="1" dirty="0"/>
              <a:t> </a:t>
            </a:r>
            <a:r>
              <a:rPr lang="hr-HR" i="1" dirty="0" err="1"/>
              <a:t>learning</a:t>
            </a:r>
            <a:endParaRPr lang="hr-HR" i="1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172B5AB4-A37A-A68C-A3A3-AE147FDAD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2368"/>
            <a:ext cx="6405880" cy="482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690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5155E3F-53F2-AD5C-6F5F-A36F4A73A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REZULTATI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D52E8362-5334-65DA-3606-0DDB01BFE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298" y="1990672"/>
            <a:ext cx="9239626" cy="823647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9979290-606D-A2E4-214C-FC44DC5AB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298" y="3260712"/>
            <a:ext cx="4119880" cy="2802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5284E47-DE5E-150B-0B02-767587646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384" y="3260712"/>
            <a:ext cx="4173540" cy="2802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9573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475309A-D1A0-BF27-5D34-E9A064F48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hr-HR" dirty="0"/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332664190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Tema sustava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sustava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sustava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150</Words>
  <Application>Microsoft Office PowerPoint</Application>
  <PresentationFormat>Široki zaslon</PresentationFormat>
  <Paragraphs>26</Paragraphs>
  <Slides>8</Slides>
  <Notes>1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KLASIFIKACIJA TIPOVA TKIVA KORIŠTENJEM RESNET I EFFICIENTNET ARHITEKTURA</vt:lpstr>
      <vt:lpstr>Problem</vt:lpstr>
      <vt:lpstr>Rješenje</vt:lpstr>
      <vt:lpstr>ResNet arhitektura</vt:lpstr>
      <vt:lpstr>EfficientNet arhitektura</vt:lpstr>
      <vt:lpstr>Skup podataka i metode</vt:lpstr>
      <vt:lpstr>REZULTATI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Marinela Bekić</dc:creator>
  <cp:lastModifiedBy>Marinela Bekić</cp:lastModifiedBy>
  <cp:revision>1</cp:revision>
  <dcterms:created xsi:type="dcterms:W3CDTF">2026-03-26T22:25:12Z</dcterms:created>
  <dcterms:modified xsi:type="dcterms:W3CDTF">2026-03-26T23:37:34Z</dcterms:modified>
</cp:coreProperties>
</file>